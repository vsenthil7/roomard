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FE1D9"/>
                </a:solidFill>
                <a:latin typeface="Inter"/>
              </a:rPr>
              <a:t>AT-HACK0019 · BAIDU BUILD WITH MEDO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200" b="1" i="0">
                <a:solidFill>
                  <a:srgbClr val="FFFFFF"/>
                </a:solidFill>
                <a:latin typeface="Inter"/>
              </a:rPr>
              <a:t>Roomard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246120"/>
            <a:ext cx="1371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1">
                <a:solidFill>
                  <a:srgbClr val="FFFFFF"/>
                </a:solidFill>
                <a:latin typeface="Inter"/>
              </a:rPr>
              <a:t>The AI guest-memory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E6F4F1"/>
                </a:solidFill>
                <a:latin typeface="Inter"/>
              </a:rPr>
              <a:t>For boutique hotels. Capture every preference. Brief every shift. Prepare every room.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FE1D9"/>
                </a:solidFill>
                <a:latin typeface="Inter"/>
              </a:rPr>
              <a:t>Baidu Build with MeDo 2026 · AT-Hack0019 · github.com/vsenthil7/roomard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FE1D9"/>
                </a:solidFill>
                <a:latin typeface="Inter"/>
              </a:rPr>
              <a:t>AT-HACK0019 · BAIDU BUILD WITH MEDO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Inter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Inter"/>
              </a:rPr>
              <a:t>Boutique hotels run on memory that walks out the door.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6F4F1"/>
                </a:solidFill>
                <a:latin typeface="Inter"/>
              </a:rPr>
              <a:t>A returning guest's pillow preference, the allergy from last stay, the complaint that</a:t>
            </a:r>
          </a:p>
          <a:p>
            <a:pPr algn="l"/>
            <a:r>
              <a:rPr sz="1600" b="0" i="0">
                <a:solidFill>
                  <a:srgbClr val="E6F4F1"/>
                </a:solidFill>
                <a:latin typeface="Inter"/>
              </a:rPr>
              <a:t>was never closed - all of it lives in one supervisor's head, a paper card in a drawer,</a:t>
            </a:r>
          </a:p>
          <a:p>
            <a:pPr algn="l"/>
            <a:r>
              <a:rPr sz="1600" b="0" i="0">
                <a:solidFill>
                  <a:srgbClr val="E6F4F1"/>
                </a:solidFill>
                <a:latin typeface="Inter"/>
              </a:rPr>
              <a:t>or a concierge inbox nobody else can see.</a:t>
            </a:r>
          </a:p>
          <a:p>
            <a:pPr algn="l"/>
            <a:r>
              <a:rPr sz="1600" b="0" i="0">
                <a:solidFill>
                  <a:srgbClr val="E6F4F1"/>
                </a:solidFill>
                <a:latin typeface="Inter"/>
              </a:rPr>
              <a:t/>
            </a:r>
          </a:p>
          <a:p>
            <a:pPr algn="l"/>
            <a:r>
              <a:rPr sz="1600" b="0" i="0">
                <a:solidFill>
                  <a:srgbClr val="E6F4F1"/>
                </a:solidFill>
                <a:latin typeface="Inter"/>
              </a:rPr>
              <a:t>  → Staff turnover erases the guest relationship overnight.</a:t>
            </a:r>
          </a:p>
          <a:p>
            <a:pPr algn="l"/>
            <a:r>
              <a:rPr sz="1600" b="0" i="0">
                <a:solidFill>
                  <a:srgbClr val="E6F4F1"/>
                </a:solidFill>
                <a:latin typeface="Inter"/>
              </a:rPr>
              <a:t>  → Chains have $200k CRMs; independents have sticky notes.</a:t>
            </a:r>
          </a:p>
          <a:p>
            <a:pPr algn="l"/>
            <a:r>
              <a:rPr sz="1600" b="0" i="0">
                <a:solidFill>
                  <a:srgbClr val="E6F4F1"/>
                </a:solidFill>
                <a:latin typeface="Inter"/>
              </a:rPr>
              <a:t>  → The data exists - handwritten cards, emails, reviews, PMS records - but it is</a:t>
            </a:r>
          </a:p>
          <a:p>
            <a:pPr algn="l"/>
            <a:r>
              <a:rPr sz="1600" b="0" i="0">
                <a:solidFill>
                  <a:srgbClr val="E6F4F1"/>
                </a:solidFill>
                <a:latin typeface="Inter"/>
              </a:rPr>
              <a:t>      never unified, never surfaced at the front desk, never auditable.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FE1D9"/>
                </a:solidFill>
                <a:latin typeface="Inter"/>
              </a:rPr>
              <a:t>Roomard · github.com/vsenthil7/roomard · AI guest-memory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FE1D9"/>
                </a:solidFill>
                <a:latin typeface="Inter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FE1D9"/>
                </a:solidFill>
                <a:latin typeface="Inter"/>
              </a:rPr>
              <a:t>AT-HACK0019 · BAIDU BUILD WITH MEDO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Inter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Inter"/>
              </a:rPr>
              <a:t>One memory engine. Three moments that matter.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Inter"/>
              </a:rP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37490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Handwritten check-in cards, concierge emails, PMS records and reviews</a:t>
            </a:r>
          </a:p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flow into one guest profile. PaddleOCR-VL + ERNIE 4.5 turn paper into structured, source-attributed preferences.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256032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26974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Inter"/>
              </a:rPr>
              <a:t>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3154680"/>
            <a:ext cx="37490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Every morning, an AI arrival brief prioritises today's guests - VIP,</a:t>
            </a:r>
          </a:p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repeat, prior-issue - with one-tap evidence drill-down. Degrades gracefully when AI is unavailable.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8" y="256032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8" y="26974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Inter"/>
              </a:rP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8" y="3154680"/>
            <a:ext cx="37490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Mid-conversation lookup, D-1 housekeeping prep cards, and a</a:t>
            </a:r>
          </a:p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complaint-trajectory flag that catches a worsening guest before the next stay. Every action audited.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FE1D9"/>
                </a:solidFill>
                <a:latin typeface="Inter"/>
              </a:rPr>
              <a:t>Roomard · github.com/vsenthil7/roomard · AI guest-memory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FE1D9"/>
                </a:solidFill>
                <a:latin typeface="Inter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FE1D9"/>
                </a:solidFill>
                <a:latin typeface="Inter"/>
              </a:rPr>
              <a:t>AT-HACK0019 · BAIDU BUILD WITH MEDO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Inter"/>
              </a:rPr>
              <a:t>The MVP wedge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Eight use cases. Seven built. One honest stub.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Inter"/>
              </a:rPr>
              <a:t>UC-07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37744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Daily arrival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377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0B981"/>
                </a:solidFill>
                <a:latin typeface="Inter"/>
              </a:rP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9806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Inter"/>
              </a:rPr>
              <a:t>UC-01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9806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Handwritten card capture (PaddleOCR-VL)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79806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0B981"/>
                </a:solidFill>
                <a:latin typeface="Inter"/>
              </a:rP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186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Inter"/>
              </a:rPr>
              <a:t>UC-08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21868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Mid-conversation guest 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21868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0B981"/>
                </a:solidFill>
                <a:latin typeface="Inter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3931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Inter"/>
              </a:rPr>
              <a:t>UC-09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3931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Housekeeping prep card (D-1)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63931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0B981"/>
                </a:solidFill>
                <a:latin typeface="Inter"/>
              </a:rPr>
              <a:t>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5993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Inter"/>
              </a:rPr>
              <a:t>UC-24a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059936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Mews inbound PMS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05993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0B981"/>
                </a:solidFill>
                <a:latin typeface="Inter"/>
              </a:rPr>
              <a:t>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805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Inter"/>
              </a:rPr>
              <a:t>UC-23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48056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Confidence / exception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44805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0B981"/>
                </a:solidFill>
                <a:latin typeface="Inter"/>
              </a:rPr>
              <a:t>75%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0118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Inter"/>
              </a:rPr>
              <a:t>UC-11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90118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Complaint trajectory (ERNIE X1) - bonus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90118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0B981"/>
                </a:solidFill>
                <a:latin typeface="Inter"/>
              </a:rPr>
              <a:t>75%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2180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Inter"/>
              </a:rPr>
              <a:t>UC-25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32180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Review polling (pipeline real, APIs stubbed)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532180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3B82F6"/>
                </a:solidFill>
                <a:latin typeface="Inter"/>
              </a:rPr>
              <a:t>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74243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Inter"/>
              </a:rPr>
              <a:t>UC-29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74243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F4F1"/>
                </a:solidFill>
                <a:latin typeface="Inter"/>
              </a:rPr>
              <a:t>SSO (SAML/OIDC) - honest 501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7424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C2626"/>
                </a:solidFill>
                <a:latin typeface="Inter"/>
              </a:rPr>
              <a:t>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FE1D9"/>
                </a:solidFill>
                <a:latin typeface="Inter"/>
              </a:rPr>
              <a:t>Roomard · github.com/vsenthil7/roomard · AI guest-memory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FE1D9"/>
                </a:solidFill>
                <a:latin typeface="Inter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FE1D9"/>
                </a:solidFill>
                <a:latin typeface="Inter"/>
              </a:rPr>
              <a:t>AT-HACK0019 · BAIDU BUILD WITH MEDO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Inter"/>
              </a:rPr>
              <a:t>The AI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Sponsor models, routed through one gateway.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5486400" cy="1097280"/>
          </a:xfrm>
          <a:prstGeom prst="rect">
            <a:avLst/>
          </a:prstGeom>
          <a:solidFill>
            <a:srgbClr val="07352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700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PaddleOCR-VL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358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Inter"/>
              </a:rPr>
              <a:t>Layout-aware OCR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1012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BFE1D9"/>
                </a:solidFill>
                <a:latin typeface="Inter"/>
              </a:rPr>
              <a:t>Handwritten check-in cards → text +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486400" cy="1097280"/>
          </a:xfrm>
          <a:prstGeom prst="rect">
            <a:avLst/>
          </a:prstGeom>
          <a:solidFill>
            <a:srgbClr val="07352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6700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ERNIE 4.5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0358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Inter"/>
              </a:rPr>
              <a:t>Entity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31012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BFE1D9"/>
                </a:solidFill>
                <a:latin typeface="Inter"/>
              </a:rPr>
              <a:t>Card/email/review text → structured preferences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486400" cy="1097280"/>
          </a:xfrm>
          <a:prstGeom prst="rect">
            <a:avLst/>
          </a:prstGeom>
          <a:solidFill>
            <a:srgbClr val="07352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416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ERNIE X1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074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Inter"/>
              </a:rPr>
              <a:t>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8172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BFE1D9"/>
                </a:solidFill>
                <a:latin typeface="Inter"/>
              </a:rPr>
              <a:t>Complaint-trajectory flag (3-issue rule, UC-11)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5486400" cy="1097280"/>
          </a:xfrm>
          <a:prstGeom prst="rect">
            <a:avLst/>
          </a:prstGeom>
          <a:solidFill>
            <a:srgbClr val="07352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0416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Qianfan MaaS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4074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Inter"/>
              </a:rPr>
              <a:t>Inference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8172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BFE1D9"/>
                </a:solidFill>
                <a:latin typeface="Inter"/>
              </a:rPr>
              <a:t>Single path to models; per-tenant caps; every call logged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BFE1D9"/>
                </a:solidFill>
                <a:latin typeface="Inter"/>
              </a:rPr>
              <a:t>AI degrades gracefully everywhere: when a model is unavailable the brief still renders, the prep</a:t>
            </a:r>
          </a:p>
          <a:p>
            <a:pPr algn="l"/>
            <a:r>
              <a:rPr sz="1200" b="0" i="1">
                <a:solidFill>
                  <a:srgbClr val="BFE1D9"/>
                </a:solidFill>
                <a:latin typeface="Inter"/>
              </a:rPr>
              <a:t>card falls back to a plain card, and the trajectory flag falls back to the rule-based threshold.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FE1D9"/>
                </a:solidFill>
                <a:latin typeface="Inter"/>
              </a:rPr>
              <a:t>Roomard · github.com/vsenthil7/roomard · AI guest-memory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FE1D9"/>
                </a:solidFill>
                <a:latin typeface="Inter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FE1D9"/>
                </a:solidFill>
                <a:latin typeface="Inter"/>
              </a:rPr>
              <a:t>AT-HACK0019 · BAIDU BUILD WITH MEDO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Inter"/>
              </a:rPr>
              <a:t>Live demo · 4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What you will see in the walkthrough.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0B981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DAILY ARRIVAL BRIEF (UC-07)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Front-desk manager signs in and lands on the morning brief: prioritised arrivals, AI-written notes, one-tap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0B981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GUEST LOOKUP + TRAJECTORY (UC-08 / UC-11)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8862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Search a guest mid-conversation: 3-bullet preferences, last-stay summary, 'say this' line, complaint-trajectory flag.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0B981"/>
                </a:solidFill>
                <a:latin typeface="In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48056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HANDWRITTEN CARD CAPTURE (UC-01)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4632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Photograph a paper check-in card; PaddleOCR-VL + ERNIE 4.5 extract fields; low confidence routes to the queue.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0B981"/>
                </a:solidFill>
                <a:latin typeface="Inter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4406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EXCEPTION QUEUE + PREP CARDS (UC-23 / UC-09)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806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Clear the confidence queue; review tomorrow's housekeeping prep cards; two-tap completion; every action audited.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FE1D9"/>
                </a:solidFill>
                <a:latin typeface="Inter"/>
              </a:rPr>
              <a:t>Roomard · github.com/vsenthil7/roomard · AI guest-memory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FE1D9"/>
                </a:solidFill>
                <a:latin typeface="Inter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FE1D9"/>
                </a:solidFill>
                <a:latin typeface="Inter"/>
              </a:rPr>
              <a:t>AT-HACK0019 · BAIDU BUILD WITH MEDO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Inter"/>
              </a:rPr>
              <a:t>Proof, not promises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Engineering rigour you can re-run.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2743200" cy="1280160"/>
          </a:xfrm>
          <a:prstGeom prst="rect">
            <a:avLst/>
          </a:prstGeom>
          <a:solidFill>
            <a:srgbClr val="07352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356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BFE1D9"/>
                </a:solidFill>
                <a:latin typeface="Inter"/>
              </a:rPr>
              <a:t>unit tests 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651760"/>
            <a:ext cx="2743200" cy="1280160"/>
          </a:xfrm>
          <a:prstGeom prst="rect">
            <a:avLst/>
          </a:prstGeom>
          <a:solidFill>
            <a:srgbClr val="07352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429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BFE1D9"/>
                </a:solidFill>
                <a:latin typeface="Inter"/>
              </a:rPr>
              <a:t>DB integration tests (live PG)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651760"/>
            <a:ext cx="2743200" cy="1280160"/>
          </a:xfrm>
          <a:prstGeom prst="rect">
            <a:avLst/>
          </a:prstGeom>
          <a:solidFill>
            <a:srgbClr val="07352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87.5 %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429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BFE1D9"/>
                </a:solidFill>
                <a:latin typeface="Inter"/>
              </a:rPr>
              <a:t>mean module 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651760"/>
            <a:ext cx="2743200" cy="1280160"/>
          </a:xfrm>
          <a:prstGeom prst="rect">
            <a:avLst/>
          </a:prstGeom>
          <a:solidFill>
            <a:srgbClr val="07352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429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BFE1D9"/>
                </a:solidFill>
                <a:latin typeface="Inter"/>
              </a:rPr>
              <a:t>findings fixed · 0 open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2743200" cy="1280160"/>
          </a:xfrm>
          <a:prstGeom prst="rect">
            <a:avLst/>
          </a:prstGeom>
          <a:solidFill>
            <a:srgbClr val="07352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97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BFE1D9"/>
                </a:solidFill>
                <a:latin typeface="Inter"/>
              </a:rPr>
              <a:t>production bugs caught by tests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114800"/>
            <a:ext cx="2743200" cy="1280160"/>
          </a:xfrm>
          <a:prstGeom prst="rect">
            <a:avLst/>
          </a:prstGeom>
          <a:solidFill>
            <a:srgbClr val="07352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4297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0 /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892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BFE1D9"/>
                </a:solidFill>
                <a:latin typeface="Inter"/>
              </a:rPr>
              <a:t>lint errors / warnings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114800"/>
            <a:ext cx="2743200" cy="1280160"/>
          </a:xfrm>
          <a:prstGeom prst="rect">
            <a:avLst/>
          </a:prstGeom>
          <a:solidFill>
            <a:srgbClr val="07352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297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892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BFE1D9"/>
                </a:solidFill>
                <a:latin typeface="Inter"/>
              </a:rPr>
              <a:t>traceable commits on main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4114800"/>
            <a:ext cx="2743200" cy="1280160"/>
          </a:xfrm>
          <a:prstGeom prst="rect">
            <a:avLst/>
          </a:prstGeom>
          <a:solidFill>
            <a:srgbClr val="07352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4297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RLS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892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BFE1D9"/>
                </a:solidFill>
                <a:latin typeface="Inter"/>
              </a:rPr>
              <a:t>tenant isolation proven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BFE1D9"/>
                </a:solidFill>
                <a:latin typeface="Consolas"/>
              </a:rPr>
              <a:t>Reproducible: pnpm -r test  ·  pnpm -r run test:coverage  ·  DB integration gated on DATABASE_URL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FE1D9"/>
                </a:solidFill>
                <a:latin typeface="Inter"/>
              </a:rPr>
              <a:t>Roomard · github.com/vsenthil7/roomard · AI guest-memory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FE1D9"/>
                </a:solidFill>
                <a:latin typeface="Inter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FE1D9"/>
                </a:solidFill>
                <a:latin typeface="Inter"/>
              </a:rPr>
              <a:t>AT-HACK0019 · BAIDU BUILD WITH MEDO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Inter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A typed monorepo. Ten services. One edge.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solidFill>
            <a:srgbClr val="073529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Inter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5176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React 18 · TanStack Router · Vite · Tailwind (PWA)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06324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BFE1D9"/>
                </a:solidFill>
                <a:latin typeface="Inter"/>
              </a:rPr>
              <a:t>Offline capture queue · served on :8180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11247120" cy="914400"/>
          </a:xfrm>
          <a:prstGeom prst="rect">
            <a:avLst/>
          </a:prstGeom>
          <a:solidFill>
            <a:srgbClr val="07352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Inter"/>
              </a:rPr>
              <a:t>EDGE +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4904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API gateway + 10 Fastify services (auth, guest, capture, brief, exception, audit, ingest, tenant, ai-gateway)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16052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BFE1D9"/>
                </a:solidFill>
                <a:latin typeface="Inter"/>
              </a:rPr>
              <a:t>JWT + RBAC at the edge · gateway on :3100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solidFill>
            <a:srgbClr val="07352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Inter"/>
              </a:rPr>
              <a:t>DATA +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84632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Postgres 16 (RLS-enforced) · Redis · MinIO · Qianfan MaaS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25780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BFE1D9"/>
                </a:solidFill>
                <a:latin typeface="Inter"/>
              </a:rPr>
              <a:t>Append-only audit · per-tenant row-level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FE1D9"/>
                </a:solidFill>
                <a:latin typeface="Inter"/>
              </a:rPr>
              <a:t>Roomard · github.com/vsenthil7/roomard · AI guest-memory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FE1D9"/>
                </a:solidFill>
                <a:latin typeface="Inter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FE1D9"/>
                </a:solidFill>
                <a:latin typeface="Inter"/>
              </a:rPr>
              <a:t>AT-HACK0019 · BAIDU BUILD WITH MEDO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Inter"/>
              </a:rPr>
              <a:t>Why this is trustworthy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Multi-tenant and audit-grade from line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Row-level security, proven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5292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RLS is forced on every tenant table; a dedicated non-superuser app role makes isolation real - demonstrated against the live database, not just claimed.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29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Append-only audit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13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Every event is hash-chained; the verify endpoint re-derives the chain in SQL so tampering is detectable.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3484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Tests find real bugs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731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Three production bugs (a tenant-context failure, an audit schema drift, a dead error-forwarder) were caught by chasing real coverage - not padding.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349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Graceful degradation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3328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Every AI path has a non-AI fallback; the product stays useful when a model is down.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FE1D9"/>
                </a:solidFill>
                <a:latin typeface="Inter"/>
              </a:rPr>
              <a:t>Roomard · github.com/vsenthil7/roomard · AI guest-memory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FE1D9"/>
                </a:solidFill>
                <a:latin typeface="Inter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FE1D9"/>
                </a:solidFill>
                <a:latin typeface="Inter"/>
              </a:rPr>
              <a:t>AT-HACK0019 · BAIDU BUILD WITH MEDO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Inter"/>
              </a:rPr>
              <a:t>What ships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From wedge to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4864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Close the wedge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·  Real review-API adapters (TripAdvisor / Booking / Google)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·  Outbound PMS sync (UC-24b) + a second PMS connector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·  SSO via a real IdP test tenant (replace the 501)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·  Push-notification delivery for briefs + GM flags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·  Benchmark corpora to verify the OCR / ranking AC bars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468880"/>
            <a:ext cx="54864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606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63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·  GDPR subject-access + erasure (EU legal gate)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520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·  Native mobile (PWA → Capacitor) for housekeeping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977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·  Multi-language UI (EN / IT / ES / ZH)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434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·  Long-horizon guest memory across properties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892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·  Lock the live stack on the non-superuser role end-to-end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FE1D9"/>
                </a:solidFill>
                <a:latin typeface="Inter"/>
              </a:rPr>
              <a:t>Roomard · github.com/vsenthil7/roomard · AI guest-memory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FE1D9"/>
                </a:solidFill>
                <a:latin typeface="Inter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FE1D9"/>
                </a:solidFill>
                <a:latin typeface="Inter"/>
              </a:rPr>
              <a:t>AT-HACK0019 · BAIDU BUILD WITH MEDO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Inter"/>
              </a:rPr>
              <a:t>Team +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Inter"/>
              </a:rPr>
              <a:t>Built for the Baidu Build with MeDo hackathon.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Inter"/>
              </a:rPr>
              <a:t>Founder + lead engineer · product, architecture, full-stack build, demo,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BFE1D9"/>
                </a:solidFill>
                <a:latin typeface="Inter"/>
              </a:rPr>
              <a:t>Generated under the AT-Hack0019 sprint with Claude as paired engineer.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Inter"/>
              </a:rPr>
              <a:t>What we are asking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·  Qianfan production-tier access for the live multilingual rollout.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·  A boutique-hotel design partner (10-50 keys) for a 4-week pilot.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·  A Mews / Cloudbeds partner connection to validate the PMS sync at scale.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F4F1"/>
                </a:solidFill>
                <a:latin typeface="Inter"/>
              </a:rPr>
              <a:t>·  Time to demo the capture → brief → prepare loop with a real property's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FE1D9"/>
                </a:solidFill>
                <a:latin typeface="Inter"/>
              </a:rPr>
              <a:t>Roomard · github.com/vsenthil7/roomard · AI guest-memory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FE1D9"/>
                </a:solidFill>
                <a:latin typeface="Inter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FE1D9"/>
                </a:solidFill>
                <a:latin typeface="Inter"/>
              </a:rPr>
              <a:t>AT-HACK0019 · BAIDU BUILD WITH MEDO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Inter"/>
              </a:rPr>
              <a:t>Roomard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200400"/>
            <a:ext cx="1371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1">
                <a:solidFill>
                  <a:srgbClr val="FFFFFF"/>
                </a:solidFill>
                <a:latin typeface="Inter"/>
              </a:rPr>
              <a:t>Every preference remembered.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F4F1"/>
                </a:solidFill>
                <a:latin typeface="Inter"/>
              </a:rPr>
              <a:t>Capture. Brief. Prepare. Multi-tenant, RLS-enforced, audit-grade by default.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  <a:latin typeface="Consolas"/>
              </a:rPr>
              <a:t>github.com/vsenthil7/roomard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BFE1D9"/>
                </a:solidFill>
                <a:latin typeface="Inter"/>
              </a:rPr>
              <a:t>356 tests · 12 DB integration · 87.5% mean coverage · 39 findings fixed · 0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FE1D9"/>
                </a:solidFill>
                <a:latin typeface="Inter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